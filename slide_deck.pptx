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GLASSDOOR SALARY ANALYSIS ·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1F5F9"/>
                </a:solidFill>
              </a:rPr>
              <a:t>Veterinarian Salaries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</a:rPr>
              <a:t>Boston</a:t>
            </a:r>
            <a:r>
              <a:rPr sz="3200" b="0">
                <a:solidFill>
                  <a:srgbClr val="F1F5F9"/>
                </a:solidFill>
              </a:rPr>
              <a:t>  vs.  </a:t>
            </a:r>
            <a:r>
              <a:rPr sz="3600" b="1">
                <a:solidFill>
                  <a:srgbClr val="34D399"/>
                </a:solidFill>
              </a:rPr>
              <a:t>Raleigh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A data-driven comparison of veterinarian compensation across two major
U.S. metro markets, sourced from self-reported Glassdoor salary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</a:rPr>
              <a:t>Source: Glassdoor · Scraped via automated browser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1F5F9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6" y="1828800"/>
            <a:ext cx="91440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16" y="2194560"/>
            <a:ext cx="329184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BOSTON MEDIAN BASE 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" y="2651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$130,000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per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6" y="2194560"/>
            <a:ext cx="329184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1436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RALEIGH MEDIAN BASE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1436" y="2651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$104,000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per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8996" y="2194560"/>
            <a:ext cx="329184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1876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PAY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1876" y="2651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84FC"/>
                </a:solidFill>
              </a:rPr>
              <a:t>+25%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876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Boston over Raleigh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Boston veterinarians command significantly higher salaries, reflecting the region's
higher cost of living and denser demand for specialized veterinary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MARKET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60A5FA"/>
                </a:solidFill>
              </a:rPr>
              <a:t>Boston, MA</a:t>
            </a:r>
            <a:r>
              <a:rPr sz="2800" b="1">
                <a:solidFill>
                  <a:srgbClr val="F1F5F9"/>
                </a:solidFill>
              </a:rPr>
              <a:t>  ·  Veterinarian Salaries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6" y="1828800"/>
            <a:ext cx="9144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16" y="21945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MEDIAN BASE 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" y="26517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$130,000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" y="3291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annual, all experience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21945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SALARY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6517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$85K – $185K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3291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10th – 90th percentile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" y="40233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6" y="4160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MOST COMMON PAY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" y="4480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Salary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" y="5120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annual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40233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4160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SALARY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4480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142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5120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self-reported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</a:rPr>
              <a:t>Source: Glassdoor · Boston, MA metro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MARKET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</a:rPr>
              <a:t>Raleigh, NC</a:t>
            </a:r>
            <a:r>
              <a:rPr sz="2800" b="1">
                <a:solidFill>
                  <a:srgbClr val="F1F5F9"/>
                </a:solidFill>
              </a:rPr>
              <a:t>  ·  Veterinarian Salaries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6" y="1828800"/>
            <a:ext cx="9144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16" y="21945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MEDIAN BASE 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" y="26517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$104,000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" y="3291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annual, all experience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21945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SALARY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6517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$72K – $148K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3291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10th – 90th percentile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" y="40233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6" y="4160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MOST COMMON PAY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" y="4480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Salary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" y="5120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annual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4023360"/>
            <a:ext cx="5029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4160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SALARY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4480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</a:rPr>
              <a:t>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5120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self-reported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</a:rPr>
              <a:t>Source: Glassdoor · Raleigh, NC metro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1F5F9"/>
                </a:solidFill>
              </a:rPr>
              <a:t>Salary Range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6" y="1737360"/>
            <a:ext cx="9144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Boston — 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86868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011680"/>
            <a:ext cx="3995928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0116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$85K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Boston — Median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697480"/>
            <a:ext cx="86868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697480"/>
            <a:ext cx="6080760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6974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$130K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832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Boston — 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383280"/>
            <a:ext cx="86868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383280"/>
            <a:ext cx="8686800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3832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$185K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51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Raleigh — 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86868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251960"/>
            <a:ext cx="3387852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2519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$72K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37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Raleigh — Median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937760"/>
            <a:ext cx="86868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937760"/>
            <a:ext cx="4864608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49377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$104K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623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Raleigh —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623560"/>
            <a:ext cx="86868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5623560"/>
            <a:ext cx="694944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5623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$148K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</a:rPr>
              <a:t>Bars scaled to Boston high of $185K =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DETAILED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1F5F9"/>
                </a:solidFill>
              </a:rPr>
              <a:t>Boston vs. Raleigh — Head to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6" y="1737360"/>
            <a:ext cx="91440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BOSTON, 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RALEIGH, 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84FC"/>
                </a:solidFill>
              </a:rPr>
              <a:t>DIFFERENCE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325526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Median Base Pay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331720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7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$130,000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31720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4D399"/>
                </a:solidFill>
              </a:rPr>
              <a:t>$104,000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331720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84FC"/>
                </a:solidFill>
              </a:rPr>
              <a:t>+$26,000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07792"/>
            <a:ext cx="325526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953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Low Estimate (10th %ile)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2907792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7" y="29535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$85,000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07792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9535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4D399"/>
                </a:solidFill>
              </a:rPr>
              <a:t>$72,000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907792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9535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84FC"/>
                </a:solidFill>
              </a:rPr>
              <a:t>+$13,000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83864"/>
            <a:ext cx="325526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52958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High Estimate (90th %ile)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483864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7" y="35295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$185,000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83864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5295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4D399"/>
                </a:solidFill>
              </a:rPr>
              <a:t>$148,000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3483864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2288" y="35295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84FC"/>
                </a:solidFill>
              </a:rPr>
              <a:t>+$37,000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59936"/>
            <a:ext cx="325526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10565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Salary Reports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059936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8767" y="410565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142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059936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10565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4D399"/>
                </a:solidFill>
              </a:rPr>
              <a:t>89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4059936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410565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84FC"/>
                </a:solidFill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36008"/>
            <a:ext cx="325526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6817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Cost-of-Living Index*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4636008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58767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~162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636008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4D399"/>
                </a:solidFill>
              </a:rPr>
              <a:t>~107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4636008"/>
            <a:ext cx="2523744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84FC"/>
                </a:solidFill>
              </a:rPr>
              <a:t>Boston +51%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309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</a:rPr>
              <a:t>* Cost-of-living index: U.S. average =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HOW WE GOT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1F5F9"/>
                </a:solidFill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6" y="1737360"/>
            <a:ext cx="9144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02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817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1F5F9"/>
                </a:solidFill>
              </a:rPr>
              <a:t>Data Source:  </a:t>
            </a:r>
            <a:r>
              <a:rPr sz="1200">
                <a:solidFill>
                  <a:srgbClr val="94A3B8"/>
                </a:solidFill>
              </a:rPr>
              <a:t>Glassdoor salary pages for "Veterinarian" in Boston, MA and Raleigh, NC.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33472"/>
            <a:ext cx="502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10817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1F5F9"/>
                </a:solidFill>
              </a:rPr>
              <a:t>Scraper:  </a:t>
            </a:r>
            <a:r>
              <a:rPr sz="1200">
                <a:solidFill>
                  <a:srgbClr val="94A3B8"/>
                </a:solidFill>
              </a:rPr>
              <a:t>Python using requests + optional Playwright + BeautifulSoup / JSON-LD extraction.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55264"/>
            <a:ext cx="502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552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55264"/>
            <a:ext cx="10817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1F5F9"/>
                </a:solidFill>
              </a:rPr>
              <a:t>Parsing:  </a:t>
            </a:r>
            <a:r>
              <a:rPr sz="1200">
                <a:solidFill>
                  <a:srgbClr val="94A3B8"/>
                </a:solidFill>
              </a:rPr>
              <a:t>Three-tier strategy — structured CSS class rows → JSON-LD schema.org objects → dollar-amount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77056"/>
            <a:ext cx="502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77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77056"/>
            <a:ext cx="10817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1F5F9"/>
                </a:solidFill>
              </a:rPr>
              <a:t>Output:  </a:t>
            </a:r>
            <a:r>
              <a:rPr sz="1200">
                <a:solidFill>
                  <a:srgbClr val="94A3B8"/>
                </a:solidFill>
              </a:rPr>
              <a:t>Records saved as timestamped CSV (output/vet_salaries_YYYYMMDD_HHMMSS.csv).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98848"/>
            <a:ext cx="502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98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98848"/>
            <a:ext cx="10817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1F5F9"/>
                </a:solidFill>
              </a:rPr>
              <a:t>Limitations:  </a:t>
            </a:r>
            <a:r>
              <a:rPr sz="1200">
                <a:solidFill>
                  <a:srgbClr val="94A3B8"/>
                </a:solidFill>
              </a:rPr>
              <a:t>Self-reported salaries may have selection bias; Glassdoor may throttle automated requests.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